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279e9db54d7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279e9db54d7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279e9db54d7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279e9db54d7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279e9db54d7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279e9db54d7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279e9db54d7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279e9db54d7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279e9db54d7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279e9db54d7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279e9db54d7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279e9db54d7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279e9db54d7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279e9db54d7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e3fd15ea4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e3fd15ea4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279e9db54d7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279e9db54d7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279e9db54d7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279e9db54d7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279e9db54d7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279e9db54d7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279e9db54d7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279e9db54d7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279e9db54d7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279e9db54d7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79e9db54d7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79e9db54d7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279e9db54d7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279e9db54d7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460650" y="3183225"/>
            <a:ext cx="8222700" cy="178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sz="1800"/>
              <a:t>Team Details</a:t>
            </a:r>
            <a:endParaRPr b="1" sz="1500"/>
          </a:p>
          <a:p>
            <a:r>
              <a:rPr b="0" sz="1250"/>
              <a:t/>
            </a:r>
          </a:p>
          <a:p>
            <a:r>
              <a:rPr b="1" sz="1250"/>
              <a:t>Team name:  &lt;TEAM NAME&gt;</a:t>
            </a:r>
          </a:p>
          <a:p>
            <a:r>
              <a:rPr b="1" sz="1250"/>
              <a:t>Team leader name:  &lt;LEADER NAME&gt;</a:t>
            </a:r>
          </a:p>
          <a:p>
            <a:r>
              <a:rPr b="1" sz="1250"/>
              <a:t>Team size:  &lt;N&gt;</a:t>
            </a:r>
          </a:p>
          <a:p>
            <a:r>
              <a:rPr b="1" sz="1250"/>
              <a:t>Problem Statement:  Challenge 01 — Intelligent Conversational AI for the KSP Crime Database</a:t>
            </a:r>
          </a:p>
          <a:p>
            <a:r>
              <a:rPr b="0" sz="1250"/>
              <a:t/>
            </a:r>
          </a:p>
          <a:p>
            <a:r>
              <a:rPr b="0" sz="1100" i="1">
                <a:solidFill>
                  <a:srgbClr val="A8772A"/>
                </a:solidFill>
              </a:rPr>
              <a:t>Veritas · a conversational crime-intelligence console where every claim traces to a record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14" title="Framwdwdwde 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14"/>
          <p:cNvSpPr txBox="1"/>
          <p:nvPr/>
        </p:nvSpPr>
        <p:spPr>
          <a:xfrm>
            <a:off x="318650" y="69797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rPr sz="1600" b="1">
                <a:solidFill>
                  <a:srgbClr val="12161C"/>
                </a:solidFill>
              </a:rPr>
              <a:t>Brief about the solution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80000" y="1420000"/>
            <a:ext cx="8390000" cy="3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050">
                <a:solidFill>
                  <a:srgbClr val="2A2F36"/>
                </a:solidFill>
              </a:rPr>
              <a:t>An officer asks a question in English or Kannada. Veritas answers from the KSP FIR database, and every claim in the answer carries a citation to the record it came from.</a:t>
            </a:r>
          </a:p>
          <a:p>
            <a:pPr>
              <a:lnSpc>
                <a:spcPct val="105000"/>
              </a:lnSpc>
              <a:spcBef>
                <a:spcPts val="600"/>
              </a:spcBef>
              <a:spcAft>
                <a:spcPts val="400"/>
              </a:spcAft>
            </a:pPr>
            <a:r>
              <a:rPr sz="1100" b="1">
                <a:solidFill>
                  <a:srgbClr val="A8772A"/>
                </a:solidFill>
              </a:rPr>
              <a:t>The problem the schema creates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050">
                <a:solidFill>
                  <a:srgbClr val="2A2F36"/>
                </a:solidFill>
              </a:rPr>
              <a:t>•  The organizers' ER has no person. An Accused row belongs to exactly one case and its PersonID is a per-case sort label, so on the raw schema every offender is a first-timer, nobody co-offends with anybody, and “does he have priors?” has no answer.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050">
                <a:solidFill>
                  <a:srgbClr val="2A2F36"/>
                </a:solidFill>
              </a:rPr>
              <a:t>•  So identity is inferred, not looked up: Fellegi–Sunter probabilistic record linkage reconstructs people from Accused rows at F1 0.989. It runs as a batch pass right after load, and priors, the co-offender network, the money trail and every risk feature stand on it.</a:t>
            </a:r>
          </a:p>
          <a:p>
            <a:pPr>
              <a:lnSpc>
                <a:spcPct val="105000"/>
              </a:lnSpc>
              <a:spcBef>
                <a:spcPts val="600"/>
              </a:spcBef>
              <a:spcAft>
                <a:spcPts val="400"/>
              </a:spcAft>
            </a:pPr>
            <a:r>
              <a:rPr sz="1100" b="1">
                <a:solidFill>
                  <a:srgbClr val="A8772A"/>
                </a:solidFill>
              </a:rPr>
              <a:t>What that buys the investigator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050">
                <a:solidFill>
                  <a:srgbClr val="2A2F36"/>
                </a:solidFill>
              </a:rPr>
              <a:t>•  Ask in plain language, get the answer plus the map, network, money flow or forecast that supports it — and the reasoning trace that produced it.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050">
                <a:solidFill>
                  <a:srgbClr val="2A2F36"/>
                </a:solidFill>
              </a:rPr>
              <a:t>•  When the records do not support an answer, it says so. It does not return the nearest-looking case.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050">
                <a:solidFill>
                  <a:srgbClr val="2A2F36"/>
                </a:solidFill>
              </a:rPr>
              <a:t>•  Live on Catalyst: 37 tables, 10,000 FIRs, 105k rows, 6 officer ranks, 200 tests green.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65;p15" title="Framwdwdwde 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5"/>
          <p:cNvSpPr txBox="1"/>
          <p:nvPr/>
        </p:nvSpPr>
        <p:spPr>
          <a:xfrm>
            <a:off x="240800" y="710650"/>
            <a:ext cx="8784300" cy="14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rPr sz="1600" b="1">
                <a:solidFill>
                  <a:srgbClr val="12161C"/>
                </a:solidFill>
              </a:rPr>
              <a:t>Opportunities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80000" y="1420000"/>
            <a:ext cx="8390000" cy="3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Bef>
                <a:spcPts val="600"/>
              </a:spcBef>
              <a:spcAft>
                <a:spcPts val="400"/>
              </a:spcAft>
            </a:pPr>
            <a:r>
              <a:rPr sz="1000" b="1">
                <a:solidFill>
                  <a:srgbClr val="A8772A"/>
                </a:solidFill>
              </a:rPr>
              <a:t>How it differs from existing ideas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950">
                <a:solidFill>
                  <a:srgbClr val="2A2F36"/>
                </a:solidFill>
              </a:rPr>
              <a:t>•  It is not text-to-SQL over the FIR tables. Retrieval is HippoRAG (Gutiérrez et al., NeurIPS 2024): the query's entities seed Personalized PageRank over a knowledge graph built from the records, so one graph pass does multi-hop retrieval without an LLM in the loop. Deep questions escalate to Think-on-Graph (ICLR 2024) beam search, which returns a traceable reasoning path rather than only an answer.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950">
                <a:solidFill>
                  <a:srgbClr val="2A2F36"/>
                </a:solidFill>
              </a:rPr>
              <a:t>•  There is deliberately no model-authored query: ZCQL has no bind parameters, so a generated query would be the one place user text reaches the evidence store uninterpolated.</a:t>
            </a:r>
          </a:p>
          <a:p>
            <a:pPr>
              <a:lnSpc>
                <a:spcPct val="105000"/>
              </a:lnSpc>
              <a:spcBef>
                <a:spcPts val="600"/>
              </a:spcBef>
              <a:spcAft>
                <a:spcPts val="400"/>
              </a:spcAft>
            </a:pPr>
            <a:r>
              <a:rPr sz="1000" b="1">
                <a:solidFill>
                  <a:srgbClr val="A8772A"/>
                </a:solidFill>
              </a:rPr>
              <a:t>How it solves the problem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950">
                <a:solidFill>
                  <a:srgbClr val="2A2F36"/>
                </a:solidFill>
              </a:rPr>
              <a:t>•  27 of the organizers' tables load verbatim; 10 vx_ tables add what the ER cannot express — the resolved person, the co-offending graph, the financial layer, session memory and the audit trail. Questions about a person, a network or a money flow become answerable at all.</a:t>
            </a:r>
          </a:p>
          <a:p>
            <a:pPr>
              <a:lnSpc>
                <a:spcPct val="105000"/>
              </a:lnSpc>
              <a:spcBef>
                <a:spcPts val="600"/>
              </a:spcBef>
              <a:spcAft>
                <a:spcPts val="400"/>
              </a:spcAft>
            </a:pPr>
            <a:r>
              <a:rPr sz="1000" b="1">
                <a:solidFill>
                  <a:srgbClr val="A8772A"/>
                </a:solidFill>
              </a:rPr>
              <a:t>Unique selling points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950">
                <a:solidFill>
                  <a:srgbClr val="2A2F36"/>
                </a:solidFill>
              </a:rPr>
              <a:t>•  Refusal is a designed path. A CRAG-style evaluator accepts, widens, or states “not found in the available records”; a named FIR that does not exist is refused, never approximated.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950">
                <a:solidFill>
                  <a:srgbClr val="2A2F36"/>
                </a:solidFill>
              </a:rPr>
              <a:t>•  Access control is enforced at query-construction time, not by masking the output — you cannot un-traverse a graph or reliably redact a name out of generated prose.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950">
                <a:solidFill>
                  <a:srgbClr val="2A2F36"/>
                </a:solidFill>
              </a:rPr>
              <a:t>•  Kannada speech and translation run inside our own container; no FIR text and no map coordinate ever reaches a third-party service.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950">
                <a:solidFill>
                  <a:srgbClr val="2A2F36"/>
                </a:solidFill>
              </a:rPr>
              <a:t>•  The audit log is a SHA-256 hash chain, re-verified by a Catalyst Cron job every 12 hours.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71;p16" title="Framwdwdwde 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6"/>
          <p:cNvSpPr txBox="1"/>
          <p:nvPr/>
        </p:nvSpPr>
        <p:spPr>
          <a:xfrm>
            <a:off x="195475" y="855225"/>
            <a:ext cx="8698800" cy="5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rPr sz="1600" b="1">
                <a:solidFill>
                  <a:srgbClr val="12161C"/>
                </a:solidFill>
              </a:rPr>
              <a:t>Features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80000" y="1420000"/>
            <a:ext cx="8390000" cy="3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950">
                <a:solidFill>
                  <a:srgbClr val="2A2F36"/>
                </a:solidFill>
              </a:rPr>
              <a:t>•  Conversational search — English and Kannada, streamed token by token, with numbered citation chips that open the source record in an evidence drawer.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950">
                <a:solidFill>
                  <a:srgbClr val="2A2F36"/>
                </a:solidFill>
              </a:rPr>
              <a:t>•  Voice — push-to-talk Kannada ASR (faster-whisper) and NLLB-200 translation, both in-container; the LLM never sees Kannada.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950">
                <a:solidFill>
                  <a:srgbClr val="2A2F36"/>
                </a:solidFill>
              </a:rPr>
              <a:t>•  Identity — “Ramesh Gowda” and “Ramesha Gouda” resolve to one person: priors, aliases, full case history, F1 0.989.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950">
                <a:solidFill>
                  <a:srgbClr val="2A2F36"/>
                </a:solidFill>
              </a:rPr>
              <a:t>•  Criminal network — PageRank, betweenness and Louvain communities over the co-offending projection; groups are labelled “Community 47”, because the ER records no gang and we do not invent one.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950">
                <a:solidFill>
                  <a:srgbClr val="2A2F36"/>
                </a:solidFill>
              </a:rPr>
              <a:t>•  Hotspots — KDE plus DBSCAN (eps 500 m) rendered on a self-drawn basemap, so FIR coordinates never travel inside a tile-service URL.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950">
                <a:solidFill>
                  <a:srgbClr val="2A2F36"/>
                </a:solidFill>
              </a:rPr>
              <a:t>•  Forecasting — Prophet with MinT reconciliation: a district's forecast always equals the coherent sum of its stations' forecasts.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950">
                <a:solidFill>
                  <a:srgbClr val="2A2F36"/>
                </a:solidFill>
              </a:rPr>
              <a:t>•  Risk — XGBoost with TreeSHAP explanations, a calibrated LightGBM 180-day recidivism model, and Isolation Forest district spike alerts pushed over WebSocket.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950">
                <a:solidFill>
                  <a:srgbClr val="2A2F36"/>
                </a:solidFill>
              </a:rPr>
              <a:t>•  Financial crime — an explainable structuring detector a court can audit line by line, alongside a GNN that catches coordinated multi-account layering the rule structurally cannot see; Sankey money flow.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950">
                <a:solidFill>
                  <a:srgbClr val="2A2F36"/>
                </a:solidFill>
              </a:rPr>
              <a:t>•  Investigation Copilot — case timeline, top-5 similar past cases with outcomes, ranked leads (direct co-accused only, so a lead is actionable this week), and a paste-ready case-diary paragraph.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950">
                <a:solidFill>
                  <a:srgbClr val="2A2F36"/>
                </a:solidFill>
              </a:rPr>
              <a:t>•  Governance — six officer ranks, tamper-evident audit chain, Aequitas bias audit, PDF case brief via SmartBrowz.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Google Shape;77;p17" title="Framwdwdwde 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7"/>
          <p:cNvSpPr txBox="1"/>
          <p:nvPr/>
        </p:nvSpPr>
        <p:spPr>
          <a:xfrm>
            <a:off x="195475" y="830775"/>
            <a:ext cx="8772000" cy="51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rPr sz="1600" b="1">
                <a:solidFill>
                  <a:srgbClr val="12161C"/>
                </a:solidFill>
              </a:rPr>
              <a:t>Process flow</a:t>
            </a:r>
          </a:p>
        </p:txBody>
      </p:sp>
      <p:sp>
        <p:nvSpPr>
          <p:cNvPr id="79" name="Chevron 78"/>
          <p:cNvSpPr/>
          <p:nvPr/>
        </p:nvSpPr>
        <p:spPr>
          <a:xfrm>
            <a:off x="380000" y="1400000"/>
            <a:ext cx="1349391" cy="660000"/>
          </a:xfrm>
          <a:prstGeom prst="chevron">
            <a:avLst/>
          </a:prstGeom>
          <a:solidFill>
            <a:srgbClr val="121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000" rIns="45000" tIns="20000" bIns="20000"/>
          <a:lstStyle/>
          <a:p>
            <a:pPr algn="ctr">
              <a:lnSpc>
                <a:spcPct val="100000"/>
              </a:lnSpc>
            </a:pPr>
            <a:r>
              <a:rPr sz="800" b="0">
                <a:solidFill>
                  <a:srgbClr val="FFFFFF"/>
                </a:solidFill>
              </a:rPr>
              <a:t>Question
EN / KN,
typed or spoken</a:t>
            </a:r>
          </a:p>
        </p:txBody>
      </p:sp>
      <p:sp>
        <p:nvSpPr>
          <p:cNvPr id="80" name="Chevron 79"/>
          <p:cNvSpPr/>
          <p:nvPr/>
        </p:nvSpPr>
        <p:spPr>
          <a:xfrm>
            <a:off x="1778333" y="1400000"/>
            <a:ext cx="1349391" cy="660000"/>
          </a:xfrm>
          <a:prstGeom prst="chevron">
            <a:avLst/>
          </a:prstGeom>
          <a:solidFill>
            <a:srgbClr val="121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000" rIns="45000" tIns="20000" bIns="20000"/>
          <a:lstStyle/>
          <a:p>
            <a:pPr algn="ctr">
              <a:lnSpc>
                <a:spcPct val="100000"/>
              </a:lnSpc>
            </a:pPr>
            <a:r>
              <a:rPr sz="800" b="0">
                <a:solidFill>
                  <a:srgbClr val="FFFFFF"/>
                </a:solidFill>
              </a:rPr>
              <a:t>Translate + route
Kannada → EN
in-container</a:t>
            </a:r>
          </a:p>
        </p:txBody>
      </p:sp>
      <p:sp>
        <p:nvSpPr>
          <p:cNvPr id="81" name="Chevron 80"/>
          <p:cNvSpPr/>
          <p:nvPr/>
        </p:nvSpPr>
        <p:spPr>
          <a:xfrm>
            <a:off x="3176666" y="1400000"/>
            <a:ext cx="1349391" cy="660000"/>
          </a:xfrm>
          <a:prstGeom prst="chevron">
            <a:avLst/>
          </a:prstGeom>
          <a:solidFill>
            <a:srgbClr val="121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000" rIns="45000" tIns="20000" bIns="20000"/>
          <a:lstStyle/>
          <a:p>
            <a:pPr algn="ctr">
              <a:lnSpc>
                <a:spcPct val="100000"/>
              </a:lnSpc>
            </a:pPr>
            <a:r>
              <a:rPr sz="800" b="0">
                <a:solidFill>
                  <a:srgbClr val="FFFFFF"/>
                </a:solidFill>
              </a:rPr>
              <a:t>HippoRAG
Personalized
PageRank</a:t>
            </a:r>
          </a:p>
        </p:txBody>
      </p:sp>
      <p:sp>
        <p:nvSpPr>
          <p:cNvPr id="82" name="Chevron 81"/>
          <p:cNvSpPr/>
          <p:nvPr/>
        </p:nvSpPr>
        <p:spPr>
          <a:xfrm>
            <a:off x="4575000" y="1400000"/>
            <a:ext cx="1349391" cy="660000"/>
          </a:xfrm>
          <a:prstGeom prst="chevron">
            <a:avLst/>
          </a:prstGeom>
          <a:solidFill>
            <a:srgbClr val="121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000" rIns="45000" tIns="20000" bIns="20000"/>
          <a:lstStyle/>
          <a:p>
            <a:pPr algn="ctr">
              <a:lnSpc>
                <a:spcPct val="100000"/>
              </a:lnSpc>
            </a:pPr>
            <a:r>
              <a:rPr sz="800" b="0">
                <a:solidFill>
                  <a:srgbClr val="FFFFFF"/>
                </a:solidFill>
              </a:rPr>
              <a:t>Think-on-Graph
if confidence low</a:t>
            </a:r>
          </a:p>
        </p:txBody>
      </p:sp>
      <p:sp>
        <p:nvSpPr>
          <p:cNvPr id="83" name="Chevron 82"/>
          <p:cNvSpPr/>
          <p:nvPr/>
        </p:nvSpPr>
        <p:spPr>
          <a:xfrm>
            <a:off x="5973333" y="1400000"/>
            <a:ext cx="1349391" cy="660000"/>
          </a:xfrm>
          <a:prstGeom prst="chevron">
            <a:avLst/>
          </a:prstGeom>
          <a:solidFill>
            <a:srgbClr val="A87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000" rIns="45000" tIns="20000" bIns="20000"/>
          <a:lstStyle/>
          <a:p>
            <a:pPr algn="ctr">
              <a:lnSpc>
                <a:spcPct val="100000"/>
              </a:lnSpc>
            </a:pPr>
            <a:r>
              <a:rPr sz="800" b="0">
                <a:solidFill>
                  <a:srgbClr val="FFFFFF"/>
                </a:solidFill>
              </a:rPr>
              <a:t>Evidence
evaluator</a:t>
            </a:r>
          </a:p>
        </p:txBody>
      </p:sp>
      <p:sp>
        <p:nvSpPr>
          <p:cNvPr id="84" name="Chevron 83"/>
          <p:cNvSpPr/>
          <p:nvPr/>
        </p:nvSpPr>
        <p:spPr>
          <a:xfrm>
            <a:off x="7371666" y="1400000"/>
            <a:ext cx="1349391" cy="660000"/>
          </a:xfrm>
          <a:prstGeom prst="chevron">
            <a:avLst/>
          </a:prstGeom>
          <a:solidFill>
            <a:srgbClr val="121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000" rIns="45000" tIns="20000" bIns="20000"/>
          <a:lstStyle/>
          <a:p>
            <a:pPr algn="ctr">
              <a:lnSpc>
                <a:spcPct val="100000"/>
              </a:lnSpc>
            </a:pPr>
            <a:r>
              <a:rPr sz="800" b="0">
                <a:solidFill>
                  <a:srgbClr val="FFFFFF"/>
                </a:solidFill>
              </a:rPr>
              <a:t>Cited answer
+ reasoning
trace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380000" y="2115000"/>
            <a:ext cx="839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i="1">
                <a:solidFill>
                  <a:srgbClr val="60666E"/>
                </a:solidFill>
              </a:rPr>
              <a:t>Answer path. The evaluator has three outcomes: accept → synthesise a cited answer; widen and retry; or refuse — “not found in the available records”. A missed exact FIR lookup always refuses.</a:t>
            </a:r>
          </a:p>
        </p:txBody>
      </p:sp>
      <p:sp>
        <p:nvSpPr>
          <p:cNvPr id="86" name="Chevron 85"/>
          <p:cNvSpPr/>
          <p:nvPr/>
        </p:nvSpPr>
        <p:spPr>
          <a:xfrm>
            <a:off x="380000" y="2700000"/>
            <a:ext cx="1349391" cy="660000"/>
          </a:xfrm>
          <a:prstGeom prst="chevron">
            <a:avLst/>
          </a:prstGeom>
          <a:solidFill>
            <a:srgbClr val="121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000" rIns="45000" tIns="20000" bIns="20000"/>
          <a:lstStyle/>
          <a:p>
            <a:pPr algn="ctr">
              <a:lnSpc>
                <a:spcPct val="100000"/>
              </a:lnSpc>
            </a:pPr>
            <a:r>
              <a:rPr sz="800" b="0">
                <a:solidFill>
                  <a:srgbClr val="FFFFFF"/>
                </a:solidFill>
              </a:rPr>
              <a:t>Schema
27 ER tables
+ 10 vx_</a:t>
            </a:r>
          </a:p>
        </p:txBody>
      </p:sp>
      <p:sp>
        <p:nvSpPr>
          <p:cNvPr id="87" name="Chevron 86"/>
          <p:cNvSpPr/>
          <p:nvPr/>
        </p:nvSpPr>
        <p:spPr>
          <a:xfrm>
            <a:off x="1778333" y="2700000"/>
            <a:ext cx="1349391" cy="660000"/>
          </a:xfrm>
          <a:prstGeom prst="chevron">
            <a:avLst/>
          </a:prstGeom>
          <a:solidFill>
            <a:srgbClr val="121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000" rIns="45000" tIns="20000" bIns="20000"/>
          <a:lstStyle/>
          <a:p>
            <a:pPr algn="ctr">
              <a:lnSpc>
                <a:spcPct val="100000"/>
              </a:lnSpc>
            </a:pPr>
            <a:r>
              <a:rPr sz="800" b="0">
                <a:solidFill>
                  <a:srgbClr val="FFFFFF"/>
                </a:solidFill>
              </a:rPr>
              <a:t>Generate on
NCRB / Census
ground truth</a:t>
            </a:r>
          </a:p>
        </p:txBody>
      </p:sp>
      <p:sp>
        <p:nvSpPr>
          <p:cNvPr id="88" name="Chevron 87"/>
          <p:cNvSpPr/>
          <p:nvPr/>
        </p:nvSpPr>
        <p:spPr>
          <a:xfrm>
            <a:off x="3176666" y="2700000"/>
            <a:ext cx="1349391" cy="660000"/>
          </a:xfrm>
          <a:prstGeom prst="chevron">
            <a:avLst/>
          </a:prstGeom>
          <a:solidFill>
            <a:srgbClr val="121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000" rIns="45000" tIns="20000" bIns="20000"/>
          <a:lstStyle/>
          <a:p>
            <a:pPr algn="ctr">
              <a:lnSpc>
                <a:spcPct val="100000"/>
              </a:lnSpc>
            </a:pPr>
            <a:r>
              <a:rPr sz="800" b="0">
                <a:solidFill>
                  <a:srgbClr val="FFFFFF"/>
                </a:solidFill>
              </a:rPr>
              <a:t>Load
records</a:t>
            </a:r>
          </a:p>
        </p:txBody>
      </p:sp>
      <p:sp>
        <p:nvSpPr>
          <p:cNvPr id="89" name="Chevron 88"/>
          <p:cNvSpPr/>
          <p:nvPr/>
        </p:nvSpPr>
        <p:spPr>
          <a:xfrm>
            <a:off x="4575000" y="2700000"/>
            <a:ext cx="1349391" cy="660000"/>
          </a:xfrm>
          <a:prstGeom prst="chevron">
            <a:avLst/>
          </a:prstGeom>
          <a:solidFill>
            <a:srgbClr val="A87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000" rIns="45000" tIns="20000" bIns="20000"/>
          <a:lstStyle/>
          <a:p>
            <a:pPr algn="ctr">
              <a:lnSpc>
                <a:spcPct val="100000"/>
              </a:lnSpc>
            </a:pPr>
            <a:r>
              <a:rPr sz="800" b="0">
                <a:solidFill>
                  <a:srgbClr val="FFFFFF"/>
                </a:solidFill>
              </a:rPr>
              <a:t>RESOLVE
IDENTITIES</a:t>
            </a:r>
          </a:p>
        </p:txBody>
      </p:sp>
      <p:sp>
        <p:nvSpPr>
          <p:cNvPr id="90" name="Chevron 89"/>
          <p:cNvSpPr/>
          <p:nvPr/>
        </p:nvSpPr>
        <p:spPr>
          <a:xfrm>
            <a:off x="5973333" y="2700000"/>
            <a:ext cx="1349391" cy="660000"/>
          </a:xfrm>
          <a:prstGeom prst="chevron">
            <a:avLst/>
          </a:prstGeom>
          <a:solidFill>
            <a:srgbClr val="121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000" rIns="45000" tIns="20000" bIns="20000"/>
          <a:lstStyle/>
          <a:p>
            <a:pPr algn="ctr">
              <a:lnSpc>
                <a:spcPct val="100000"/>
              </a:lnSpc>
            </a:pPr>
            <a:r>
              <a:rPr sz="800" b="0">
                <a:solidFill>
                  <a:srgbClr val="FFFFFF"/>
                </a:solidFill>
              </a:rPr>
              <a:t>Financial layer
+ graph edges</a:t>
            </a:r>
          </a:p>
        </p:txBody>
      </p:sp>
      <p:sp>
        <p:nvSpPr>
          <p:cNvPr id="91" name="Chevron 90"/>
          <p:cNvSpPr/>
          <p:nvPr/>
        </p:nvSpPr>
        <p:spPr>
          <a:xfrm>
            <a:off x="7371666" y="2700000"/>
            <a:ext cx="1349391" cy="660000"/>
          </a:xfrm>
          <a:prstGeom prst="chevron">
            <a:avLst/>
          </a:prstGeom>
          <a:solidFill>
            <a:srgbClr val="121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000" rIns="45000" tIns="20000" bIns="20000"/>
          <a:lstStyle/>
          <a:p>
            <a:pPr algn="ctr">
              <a:lnSpc>
                <a:spcPct val="100000"/>
              </a:lnSpc>
            </a:pPr>
            <a:r>
              <a:rPr sz="800" b="0">
                <a:solidFill>
                  <a:srgbClr val="FFFFFF"/>
                </a:solidFill>
              </a:rPr>
              <a:t>Graph algos
+ embeddings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380000" y="3415000"/>
            <a:ext cx="839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i="1">
                <a:solidFill>
                  <a:srgbClr val="60666E"/>
                </a:solidFill>
              </a:rPr>
              <a:t>Build path, and the order is the architecture: each step depends on the last, and identity resolution cannot move — the graph, the money layer and every risk feature are built from resolved people, not from Accused rows.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380000" y="4120000"/>
            <a:ext cx="839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850" i="1">
                <a:solidFill>
                  <a:srgbClr val="60666E"/>
                </a:solidFill>
              </a:rPr>
              <a:t>Use case — a Sub-Inspector opens an unsolved chain-snatching FIR, presses Ask about this case, and gets: the timeline, five closed cases with the same modus operandi and their outcomes, the accused's resolved priors under two spellings of his name, his direct co-accused, and the paragraph to paste into the case diary. Everything is cited; a DSP asking the same question sees all 76 stations, the Investigating Officer sees one.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8" title="Framwdwdwde 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8"/>
          <p:cNvSpPr txBox="1"/>
          <p:nvPr/>
        </p:nvSpPr>
        <p:spPr>
          <a:xfrm>
            <a:off x="207700" y="879650"/>
            <a:ext cx="87231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rPr sz="1600" b="1">
                <a:solidFill>
                  <a:srgbClr val="12161C"/>
                </a:solidFill>
              </a:rPr>
              <a:t>Console wireframe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380000" y="1400000"/>
            <a:ext cx="2450000" cy="2600000"/>
          </a:xfrm>
          <a:prstGeom prst="roundRect">
            <a:avLst/>
          </a:prstGeom>
          <a:solidFill>
            <a:srgbClr val="1B20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000" rIns="45000" tIns="20000" bIns="20000"/>
          <a:lstStyle/>
          <a:p>
            <a:pPr algn="ctr">
              <a:lnSpc>
                <a:spcPct val="100000"/>
              </a:lnSpc>
            </a:pPr>
            <a:r>
              <a:rPr sz="850" b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380000" y="1400000"/>
            <a:ext cx="2450000" cy="340000"/>
          </a:xfrm>
          <a:prstGeom prst="roundRect">
            <a:avLst/>
          </a:prstGeom>
          <a:solidFill>
            <a:srgbClr val="121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000" rIns="45000" tIns="20000" bIns="20000"/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A8772A"/>
                </a:solidFill>
              </a:rPr>
              <a:t>CHAT  ·  EN / KN  ·  push-to-talk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500000" y="1860000"/>
            <a:ext cx="2210000" cy="420000"/>
          </a:xfrm>
          <a:prstGeom prst="roundRect">
            <a:avLst/>
          </a:prstGeom>
          <a:solidFill>
            <a:srgbClr val="2A3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000" rIns="45000" tIns="20000" bIns="20000"/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D6D9DE"/>
                </a:solidFill>
              </a:rPr>
              <a:t>officer question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500000" y="2360000"/>
            <a:ext cx="2210000" cy="940000"/>
          </a:xfrm>
          <a:prstGeom prst="roundRect">
            <a:avLst/>
          </a:prstGeom>
          <a:solidFill>
            <a:srgbClr val="2A3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000" rIns="45000" tIns="20000" bIns="20000"/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D6D9DE"/>
                </a:solidFill>
              </a:rPr>
              <a:t>streamed answer with
citation chips  [1] [2] [3]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500000" y="3380000"/>
            <a:ext cx="2210000" cy="380000"/>
          </a:xfrm>
          <a:prstGeom prst="roundRect">
            <a:avLst/>
          </a:prstGeom>
          <a:solidFill>
            <a:srgbClr val="2228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000" rIns="45000" tIns="20000" bIns="20000"/>
          <a:lstStyle/>
          <a:p>
            <a:pPr algn="ctr">
              <a:lnSpc>
                <a:spcPct val="100000"/>
              </a:lnSpc>
            </a:pPr>
            <a:r>
              <a:rPr sz="850" b="0">
                <a:solidFill>
                  <a:srgbClr val="8A929C"/>
                </a:solidFill>
              </a:rPr>
              <a:t>reasoning trace  (expandable)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2925000" y="1400000"/>
            <a:ext cx="3300000" cy="2600000"/>
          </a:xfrm>
          <a:prstGeom prst="roundRect">
            <a:avLst/>
          </a:prstGeom>
          <a:solidFill>
            <a:srgbClr val="1B20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000" rIns="45000" tIns="20000" bIns="20000"/>
          <a:lstStyle/>
          <a:p>
            <a:pPr algn="ctr">
              <a:lnSpc>
                <a:spcPct val="100000"/>
              </a:lnSpc>
            </a:pPr>
            <a:r>
              <a:rPr sz="850" b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2925000" y="1400000"/>
            <a:ext cx="3300000" cy="340000"/>
          </a:xfrm>
          <a:prstGeom prst="roundRect">
            <a:avLst/>
          </a:prstGeom>
          <a:solidFill>
            <a:srgbClr val="121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000" rIns="45000" tIns="20000" bIns="20000"/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A8772A"/>
                </a:solidFill>
              </a:rPr>
              <a:t>CONTEXT  ·  swaps by query type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3045000" y="1860000"/>
            <a:ext cx="3060000" cy="420000"/>
          </a:xfrm>
          <a:prstGeom prst="roundRect">
            <a:avLst/>
          </a:prstGeom>
          <a:solidFill>
            <a:srgbClr val="2A3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000" rIns="45000" tIns="20000" bIns="20000"/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D6D9DE"/>
                </a:solidFill>
              </a:rPr>
              <a:t>map + KDE heatmap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3045000" y="2360000"/>
            <a:ext cx="3060000" cy="420000"/>
          </a:xfrm>
          <a:prstGeom prst="roundRect">
            <a:avLst/>
          </a:prstGeom>
          <a:solidFill>
            <a:srgbClr val="2A3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000" rIns="45000" tIns="20000" bIns="20000"/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D6D9DE"/>
                </a:solidFill>
              </a:rPr>
              <a:t>co-offender network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3045000" y="2860000"/>
            <a:ext cx="3060000" cy="420000"/>
          </a:xfrm>
          <a:prstGeom prst="roundRect">
            <a:avLst/>
          </a:prstGeom>
          <a:solidFill>
            <a:srgbClr val="2A3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000" rIns="45000" tIns="20000" bIns="20000"/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D6D9DE"/>
                </a:solidFill>
              </a:rPr>
              <a:t>Sankey money flow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3045000" y="3360000"/>
            <a:ext cx="3060000" cy="420000"/>
          </a:xfrm>
          <a:prstGeom prst="roundRect">
            <a:avLst/>
          </a:prstGeom>
          <a:solidFill>
            <a:srgbClr val="2A3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000" rIns="45000" tIns="20000" bIns="20000"/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D6D9DE"/>
                </a:solidFill>
              </a:rPr>
              <a:t>forecast bands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6320000" y="1400000"/>
            <a:ext cx="2450000" cy="2600000"/>
          </a:xfrm>
          <a:prstGeom prst="roundRect">
            <a:avLst/>
          </a:prstGeom>
          <a:solidFill>
            <a:srgbClr val="1B20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000" rIns="45000" tIns="20000" bIns="20000"/>
          <a:lstStyle/>
          <a:p>
            <a:pPr algn="ctr">
              <a:lnSpc>
                <a:spcPct val="100000"/>
              </a:lnSpc>
            </a:pPr>
            <a:r>
              <a:rPr sz="850" b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6320000" y="1400000"/>
            <a:ext cx="2450000" cy="340000"/>
          </a:xfrm>
          <a:prstGeom prst="roundRect">
            <a:avLst/>
          </a:prstGeom>
          <a:solidFill>
            <a:srgbClr val="121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000" rIns="45000" tIns="20000" bIns="20000"/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A8772A"/>
                </a:solidFill>
              </a:rPr>
              <a:t>EVIDENCE RAIL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6440000" y="1860000"/>
            <a:ext cx="2210000" cy="420000"/>
          </a:xfrm>
          <a:prstGeom prst="roundRect">
            <a:avLst/>
          </a:prstGeom>
          <a:solidFill>
            <a:srgbClr val="2A3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000" rIns="45000" tIns="20000" bIns="20000"/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D6D9DE"/>
                </a:solidFill>
              </a:rPr>
              <a:t>FIR record [1]  ·  confidence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6440000" y="2360000"/>
            <a:ext cx="2210000" cy="420000"/>
          </a:xfrm>
          <a:prstGeom prst="roundRect">
            <a:avLst/>
          </a:prstGeom>
          <a:solidFill>
            <a:srgbClr val="2A3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000" rIns="45000" tIns="20000" bIns="20000"/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D6D9DE"/>
                </a:solidFill>
              </a:rPr>
              <a:t>FIR record [2]  ·  confidence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6440000" y="2860000"/>
            <a:ext cx="2210000" cy="420000"/>
          </a:xfrm>
          <a:prstGeom prst="roundRect">
            <a:avLst/>
          </a:prstGeom>
          <a:solidFill>
            <a:srgbClr val="2A3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000" rIns="45000" tIns="20000" bIns="20000"/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D6D9DE"/>
                </a:solidFill>
              </a:rPr>
              <a:t>FIR record [3]  ·  confidence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6440000" y="3360000"/>
            <a:ext cx="2210000" cy="420000"/>
          </a:xfrm>
          <a:prstGeom prst="roundRect">
            <a:avLst/>
          </a:prstGeom>
          <a:solidFill>
            <a:srgbClr val="2A3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000" rIns="45000" tIns="20000" bIns="20000"/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D6D9DE"/>
                </a:solidFill>
              </a:rPr>
              <a:t>FIR record [4]  ·  confidence</a:t>
            </a:r>
          </a:p>
        </p:txBody>
      </p:sp>
      <p:cxnSp>
        <p:nvCxnSpPr>
          <p:cNvPr id="102" name="Connector 101"/>
          <p:cNvCxnSpPr/>
          <p:nvPr/>
        </p:nvCxnSpPr>
        <p:spPr>
          <a:xfrm flipV="1">
            <a:off x="2530000" y="2100000"/>
            <a:ext cx="3990000" cy="600000"/>
          </a:xfrm>
          <a:prstGeom prst="line">
            <a:avLst/>
          </a:prstGeom>
          <a:ln w="15875">
            <a:solidFill>
              <a:srgbClr val="A877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" name="TextBox 102"/>
          <p:cNvSpPr txBox="1"/>
          <p:nvPr/>
        </p:nvSpPr>
        <p:spPr>
          <a:xfrm>
            <a:off x="380000" y="4150000"/>
            <a:ext cx="839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i="1">
                <a:solidFill>
                  <a:srgbClr val="60666E"/>
                </a:solidFill>
              </a:rPr>
              <a:t>Signature element — the evidence thread: selecting a citation draws a line from the claim to the record it rests on. Ink ground with a brass accent taken from the KSP uniform; fonts are resolved into the static export, so the page makes no third-party request. Live screenshots on slide 11.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19" title="Framwdwdwde 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9"/>
          <p:cNvSpPr txBox="1"/>
          <p:nvPr/>
        </p:nvSpPr>
        <p:spPr>
          <a:xfrm>
            <a:off x="171050" y="867425"/>
            <a:ext cx="88209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rPr sz="1600" b="1">
                <a:solidFill>
                  <a:srgbClr val="12161C"/>
                </a:solidFill>
              </a:rPr>
              <a:t>Architecture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380000" y="1380000"/>
            <a:ext cx="8390000" cy="340000"/>
          </a:xfrm>
          <a:prstGeom prst="roundRect">
            <a:avLst/>
          </a:prstGeom>
          <a:solidFill>
            <a:srgbClr val="2A3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000" rIns="45000" tIns="20000" bIns="20000"/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</a:rPr>
              <a:t>KSP OFFICERS  (browser, 6 ranks)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380000" y="1795000"/>
            <a:ext cx="8390000" cy="380000"/>
          </a:xfrm>
          <a:prstGeom prst="roundRect">
            <a:avLst/>
          </a:prstGeom>
          <a:solidFill>
            <a:srgbClr val="121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000" rIns="45000" tIns="20000" bIns="20000"/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FFFFFF"/>
                </a:solidFill>
              </a:rPr>
              <a:t>COMMAND CONSOLE  ·  Next.js static export on Catalyst Web Client Hosting  ·  chat / map + graph + Sankey / evidence rail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380000" y="2250000"/>
            <a:ext cx="8390000" cy="380000"/>
          </a:xfrm>
          <a:prstGeom prst="roundRect">
            <a:avLst/>
          </a:prstGeom>
          <a:solidFill>
            <a:srgbClr val="121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000" rIns="45000" tIns="20000" bIns="20000"/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FFFFFF"/>
                </a:solidFill>
              </a:rPr>
              <a:t>FASTAPI on Catalyst AppSail (custom OCI image)  ·  Catalyst Authentication  ·  policy enforcement  ·  SSE + WebSocket  ·  audit hash chain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380000" y="2705000"/>
            <a:ext cx="8390000" cy="380000"/>
          </a:xfrm>
          <a:prstGeom prst="roundRect">
            <a:avLst/>
          </a:prstGeom>
          <a:solidFill>
            <a:srgbClr val="A87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000" rIns="45000" tIns="20000" bIns="20000"/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</a:rPr>
              <a:t>LANGGRAPH MULTI-AGENT ENGINE  ·  Orchestrator → HippoRAG → Think-on-Graph (if low confidence) → specialist agents → CRAG evaluator → synthesis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380000" y="3160000"/>
            <a:ext cx="1627660" cy="580000"/>
          </a:xfrm>
          <a:prstGeom prst="roundRect">
            <a:avLst/>
          </a:prstGeom>
          <a:solidFill>
            <a:srgbClr val="2A3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000" rIns="45000" tIns="20000" bIns="20000"/>
          <a:lstStyle/>
          <a:p>
            <a:pPr algn="ctr">
              <a:lnSpc>
                <a:spcPct val="100000"/>
              </a:lnSpc>
            </a:pPr>
            <a:r>
              <a:rPr sz="800" b="0">
                <a:solidFill>
                  <a:srgbClr val="FFFFFF"/>
                </a:solidFill>
              </a:rPr>
              <a:t>DATA STORE
37 tables, 105k rows
ZCQL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2058000" y="3160000"/>
            <a:ext cx="1627660" cy="580000"/>
          </a:xfrm>
          <a:prstGeom prst="roundRect">
            <a:avLst/>
          </a:prstGeom>
          <a:solidFill>
            <a:srgbClr val="2A3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000" rIns="45000" tIns="20000" bIns="20000"/>
          <a:lstStyle/>
          <a:p>
            <a:pPr algn="ctr">
              <a:lnSpc>
                <a:spcPct val="100000"/>
              </a:lnSpc>
            </a:pPr>
            <a:r>
              <a:rPr sz="800" b="0">
                <a:solidFill>
                  <a:srgbClr val="FFFFFF"/>
                </a:solidFill>
              </a:rPr>
              <a:t>FILE STORE
model weights
streamed at cold start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3736000" y="3160000"/>
            <a:ext cx="1627660" cy="580000"/>
          </a:xfrm>
          <a:prstGeom prst="roundRect">
            <a:avLst/>
          </a:prstGeom>
          <a:solidFill>
            <a:srgbClr val="2A3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000" rIns="45000" tIns="20000" bIns="20000"/>
          <a:lstStyle/>
          <a:p>
            <a:pPr algn="ctr">
              <a:lnSpc>
                <a:spcPct val="100000"/>
              </a:lnSpc>
            </a:pPr>
            <a:r>
              <a:rPr sz="800" b="0">
                <a:solidFill>
                  <a:srgbClr val="FFFFFF"/>
                </a:solidFill>
              </a:rPr>
              <a:t>CACHE
session focus
read every turn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5414000" y="3160000"/>
            <a:ext cx="1627660" cy="580000"/>
          </a:xfrm>
          <a:prstGeom prst="roundRect">
            <a:avLst/>
          </a:prstGeom>
          <a:solidFill>
            <a:srgbClr val="2A3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000" rIns="45000" tIns="20000" bIns="20000"/>
          <a:lstStyle/>
          <a:p>
            <a:pPr algn="ctr">
              <a:lnSpc>
                <a:spcPct val="100000"/>
              </a:lnSpc>
            </a:pPr>
            <a:r>
              <a:rPr sz="800" b="0">
                <a:solidFill>
                  <a:srgbClr val="FFFFFF"/>
                </a:solidFill>
              </a:rPr>
              <a:t>QUICKML
GLM-4.7-Flash
no API key in image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7092000" y="3160000"/>
            <a:ext cx="1627660" cy="580000"/>
          </a:xfrm>
          <a:prstGeom prst="roundRect">
            <a:avLst/>
          </a:prstGeom>
          <a:solidFill>
            <a:srgbClr val="2A3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000" rIns="45000" tIns="20000" bIns="20000"/>
          <a:lstStyle/>
          <a:p>
            <a:pPr algn="ctr">
              <a:lnSpc>
                <a:spcPct val="100000"/>
              </a:lnSpc>
            </a:pPr>
            <a:r>
              <a:rPr sz="800" b="0">
                <a:solidFill>
                  <a:srgbClr val="FFFFFF"/>
                </a:solidFill>
              </a:rPr>
              <a:t>CRON
refresh 6h
audit verify 12h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380000" y="3815000"/>
            <a:ext cx="8390000" cy="380000"/>
          </a:xfrm>
          <a:prstGeom prst="roundRect">
            <a:avLst/>
          </a:prstGeom>
          <a:solidFill>
            <a:srgbClr val="121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000" rIns="45000" tIns="20000" bIns="20000"/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FFFFFF"/>
                </a:solidFill>
              </a:rPr>
              <a:t>IN-PROCESS, ON CATALYST COMPUTE  ·  NetworkX graph  ·  numpy vector search  ·  Fellegi–Sunter  ·  XGBoost / LightGBM / Prophet / DoWhy  ·  faster-whisper + NLLB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380000" y="4245000"/>
            <a:ext cx="839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i="1">
                <a:solidFill>
                  <a:srgbClr val="60666E"/>
                </a:solidFill>
              </a:rPr>
              <a:t>Libraries, not third-party services: every model runs inside our own AppSail container. Reads run against a local sqlite mirror hydrated from the Data Store once per container, because live ZCQL refuses JOINs between value-related tables; the Data Store stays the record of truth.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20" title="Framwdwdwde 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20"/>
          <p:cNvSpPr txBox="1"/>
          <p:nvPr/>
        </p:nvSpPr>
        <p:spPr>
          <a:xfrm>
            <a:off x="158825" y="855225"/>
            <a:ext cx="8784300" cy="45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rPr sz="1600" b="1">
                <a:solidFill>
                  <a:srgbClr val="12161C"/>
                </a:solidFill>
              </a:rPr>
              <a:t>Technologies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380000" y="1420000"/>
            <a:ext cx="8390000" cy="3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950">
                <a:solidFill>
                  <a:srgbClr val="2A2F36"/>
                </a:solidFill>
              </a:rPr>
              <a:t>•  Console — Next.js (output: export), TypeScript, MapLibre GL on a self-drawn basemap, ECharts, D3 force layout, IBM Plex resolved at build time.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950">
                <a:solidFill>
                  <a:srgbClr val="2A2F36"/>
                </a:solidFill>
              </a:rPr>
              <a:t>•  API — Python 3.11, FastAPI, SSE + WebSocket, shipped as a custom OCI image (0.88 GB).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950">
                <a:solidFill>
                  <a:srgbClr val="2A2F36"/>
                </a:solidFill>
              </a:rPr>
              <a:t>•  Reasoning — LangGraph; HippoRAG (NeurIPS 2024); Think-on-Graph (ICLR 2024); a Corrective-RAG evidence evaluator; GLM-4.7-Flash served by QuickML.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950">
                <a:solidFill>
                  <a:srgbClr val="2A2F36"/>
                </a:solidFill>
              </a:rPr>
              <a:t>•  Graph and retrieval — NetworkX (PageRank, Louvain, pivot-sampled betweenness, Personalized PageRank) over an edge table; numpy exact cosine with an IDF-weighted lexical half, so “IPC 457” still matches what an investigator actually types.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950">
                <a:solidFill>
                  <a:srgbClr val="2A2F36"/>
                </a:solidFill>
              </a:rPr>
              <a:t>•  Analytics — XGBoost + TreeSHAP, LightGBM, Prophet + MinT reconciliation, scikit-learn (KDE, DBSCAN, Isolation Forest), DoWhy, a PyTorch GNN for AML, Aequitas for the bias audit.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950">
                <a:solidFill>
                  <a:srgbClr val="2A2F36"/>
                </a:solidFill>
              </a:rPr>
              <a:t>•  Kannada — faster-whisper via CTranslate2 and NLLB-200 int8; ~760 MB of weights live in Catalyst File Store and are streamed and spliced in at cold start, never baked into the image.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950">
                <a:solidFill>
                  <a:srgbClr val="2A2F36"/>
                </a:solidFill>
              </a:rPr>
              <a:t>•  Data — Catalyst Data Store over ZCQL, with a schema-typed sqlite mirror for reads; synthetic FIRs generated on real ground truth (NCRB Karnataka IPC distributions, Census 2011 district socioeconomics, KA-GIS boundaries).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950">
                <a:solidFill>
                  <a:srgbClr val="2A2F36"/>
                </a:solidFill>
              </a:rPr>
              <a:t>•  Engineering — pytest, 200 tests green with no database and no Docker: the same ZCQL strings the deployed service sends run against sqlite, so the access-control rules are checked on every commit. Deploys relay through GitHub Actions.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01;p21" title="Framwdwdwde 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21"/>
          <p:cNvSpPr txBox="1"/>
          <p:nvPr/>
        </p:nvSpPr>
        <p:spPr>
          <a:xfrm>
            <a:off x="158825" y="855225"/>
            <a:ext cx="8784300" cy="45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rPr sz="1600" b="1">
                <a:solidFill>
                  <a:srgbClr val="12161C"/>
                </a:solidFill>
              </a:rPr>
              <a:t>Catalyst services used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380000" y="1420000"/>
            <a:ext cx="8390000" cy="3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950">
                <a:solidFill>
                  <a:srgbClr val="2A2F36"/>
                </a:solidFill>
              </a:rPr>
              <a:t>•  AppSail (custom OCI runtime) — the FastAPI service; 0.88 GB image, 2048 MB memory.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950">
                <a:solidFill>
                  <a:srgbClr val="2A2F36"/>
                </a:solidFill>
              </a:rPr>
              <a:t>•  Web Client Hosting — the console, served from /app/.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950">
                <a:solidFill>
                  <a:srgbClr val="2A2F36"/>
                </a:solidFill>
              </a:rPr>
              <a:t>•  Catalyst Authentication — says who signed in; the ER's Employee row stays authoritative for role and station. A Catalyst account with no Employee row is not an officer.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950">
                <a:solidFill>
                  <a:srgbClr val="2A2F36"/>
                </a:solidFill>
              </a:rPr>
              <a:t>•  Data Store — 37 tables, 105k rows, all reads and writes in ZCQL.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950">
                <a:solidFill>
                  <a:srgbClr val="2A2F36"/>
                </a:solidFill>
              </a:rPr>
              <a:t>•  File Store — the ASR and translation weights, in 8 chunks, streamed at cold start.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950">
                <a:solidFill>
                  <a:srgbClr val="2A2F36"/>
                </a:solidFill>
              </a:rPr>
              <a:t>•  Cache — per-session focus, read on every turn before the orchestrator routes anything.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950">
                <a:solidFill>
                  <a:srgbClr val="2A2F36"/>
                </a:solidFill>
              </a:rPr>
              <a:t>•  QuickML LLM Serving — GLM-4.7-Flash. The SDK authenticates as the app, so there is no API key in the image.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950">
                <a:solidFill>
                  <a:srgbClr val="2A2F36"/>
                </a:solidFill>
              </a:rPr>
              <a:t>•  Cron — veritas_refresh (6 h) and veritas_audit_verify (12 h), because a tamper check nobody runs is not a tamper check.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950">
                <a:solidFill>
                  <a:srgbClr val="2A2F36"/>
                </a:solidFill>
              </a:rPr>
              <a:t>•  SmartBrowz — PDF case-brief export. Admin API — provisions all 37 tables from one command.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850" i="1">
                <a:solidFill>
                  <a:srgbClr val="60666E"/>
                </a:solidFill>
              </a:rPr>
              <a:t>Four capabilities have no Catalyst equivalent and therefore run inside our own container: Kannada ASR / translation (Zia has no speech or translation service), the vector index (QuickML's RAG is a managed upload pipeline with no custom retrieval hook), the knowledge graph (no Catalyst service is a graph database), and audit immutability (Data Store has no rules or triggers, so it was rebuilt as a hash chain in the data). Each is an absence, not a preference.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22" title="Framwdwdwde 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22"/>
          <p:cNvSpPr txBox="1"/>
          <p:nvPr/>
        </p:nvSpPr>
        <p:spPr>
          <a:xfrm>
            <a:off x="158825" y="818550"/>
            <a:ext cx="88452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rPr sz="1600" b="1">
                <a:solidFill>
                  <a:srgbClr val="12161C"/>
                </a:solidFill>
              </a:rPr>
              <a:t>Estimated implementation cost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380000" y="1420000"/>
            <a:ext cx="8390000" cy="3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Bef>
                <a:spcPts val="600"/>
              </a:spcBef>
              <a:spcAft>
                <a:spcPts val="400"/>
              </a:spcAft>
            </a:pPr>
            <a:r>
              <a:rPr sz="1000" b="1">
                <a:solidFill>
                  <a:srgbClr val="A8772A"/>
                </a:solidFill>
              </a:rPr>
              <a:t>Prototype, as deployed — ₹0 recurring.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950">
                <a:solidFill>
                  <a:srgbClr val="2A2F36"/>
                </a:solidFill>
              </a:rPr>
              <a:t>•  AppSail (single instance, 2048 MB), Data Store, File Store, Cache, Cron and Web Client Hosting all sit inside the Catalyst development tier.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950">
                <a:solidFill>
                  <a:srgbClr val="2A2F36"/>
                </a:solidFill>
              </a:rPr>
              <a:t>•  No third-party subscriptions to pay for: no Gemini key, no map-tile service, no speech-to-text vendor, no managed graph or vector database.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950">
                <a:solidFill>
                  <a:srgbClr val="2A2F36"/>
                </a:solidFill>
              </a:rPr>
              <a:t>•  QuickML inference is the only per-call cost, and it is optional by construction — every provider failure degrades to the deterministic intent templates plus extractive synthesis, which still produce grounded, cited answers. The LLM makes an answer fluent; it never makes it true.</a:t>
            </a:r>
          </a:p>
          <a:p>
            <a:pPr>
              <a:lnSpc>
                <a:spcPct val="105000"/>
              </a:lnSpc>
              <a:spcBef>
                <a:spcPts val="600"/>
              </a:spcBef>
              <a:spcAft>
                <a:spcPts val="400"/>
              </a:spcAft>
            </a:pPr>
            <a:r>
              <a:rPr sz="1000" b="1">
                <a:solidFill>
                  <a:srgbClr val="A8772A"/>
                </a:solidFill>
              </a:rPr>
              <a:t>Production, per district cluster — what changes at CCTNS volume.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950">
                <a:solidFill>
                  <a:srgbClr val="2A2F36"/>
                </a:solidFill>
              </a:rPr>
              <a:t>•  Compute: AppSail instances scale with concurrent officers; the ML and Kannada stack adds no per-call service cost because it runs in the same container as the API.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950">
                <a:solidFill>
                  <a:srgbClr val="2A2F36"/>
                </a:solidFill>
              </a:rPr>
              <a:t>•  Storage: Data Store rows scale linearly with FIR volume; the entity-resolution and graph passes are batch jobs on Cron, so their cost is scheduled, not per-query.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950">
                <a:solidFill>
                  <a:srgbClr val="2A2F36"/>
                </a:solidFill>
              </a:rPr>
              <a:t>•  Human cost is the real line item and it is deliberate: every output is decision-support requiring an officer's judgement, so the system adds review time rather than removing it.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Google Shape;113;p23" title="Framwdwdwde 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23"/>
          <p:cNvSpPr txBox="1"/>
          <p:nvPr/>
        </p:nvSpPr>
        <p:spPr>
          <a:xfrm>
            <a:off x="219900" y="855225"/>
            <a:ext cx="87231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rPr sz="1600" b="1">
                <a:solidFill>
                  <a:srgbClr val="12161C"/>
                </a:solidFill>
              </a:rPr>
              <a:t>Prototype snapshots</a:t>
            </a:r>
          </a:p>
        </p:txBody>
      </p:sp>
      <p:sp>
        <p:nvSpPr>
          <p:cNvPr id="115" name="Rounded Rectangle 114"/>
          <p:cNvSpPr/>
          <p:nvPr/>
        </p:nvSpPr>
        <p:spPr>
          <a:xfrm>
            <a:off x="380000" y="1400000"/>
            <a:ext cx="2690000" cy="1390000"/>
          </a:xfrm>
          <a:prstGeom prst="roundRect">
            <a:avLst/>
          </a:prstGeom>
          <a:solidFill>
            <a:srgbClr val="1B20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000" rIns="45000" tIns="20000" bIns="20000"/>
          <a:lstStyle/>
          <a:p>
            <a:pPr algn="ctr">
              <a:lnSpc>
                <a:spcPct val="100000"/>
              </a:lnSpc>
            </a:pPr>
            <a:r>
              <a:rPr sz="850" b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116" name="Rounded Rectangle 115"/>
          <p:cNvSpPr/>
          <p:nvPr/>
        </p:nvSpPr>
        <p:spPr>
          <a:xfrm>
            <a:off x="380000" y="1400000"/>
            <a:ext cx="2690000" cy="300000"/>
          </a:xfrm>
          <a:prstGeom prst="roundRect">
            <a:avLst/>
          </a:prstGeom>
          <a:solidFill>
            <a:srgbClr val="121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000" rIns="45000" tIns="20000" bIns="20000"/>
          <a:lstStyle/>
          <a:p>
            <a:pPr algn="ctr">
              <a:lnSpc>
                <a:spcPct val="100000"/>
              </a:lnSpc>
            </a:pPr>
            <a:r>
              <a:rPr sz="850" b="1">
                <a:solidFill>
                  <a:srgbClr val="A8772A"/>
                </a:solidFill>
              </a:rPr>
              <a:t>CITED ANSWER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380000" y="2820000"/>
            <a:ext cx="269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i="1">
                <a:solidFill>
                  <a:srgbClr val="60666E"/>
                </a:solidFill>
              </a:rPr>
              <a:t>citation chips + the evidence thread</a:t>
            </a:r>
          </a:p>
        </p:txBody>
      </p:sp>
      <p:sp>
        <p:nvSpPr>
          <p:cNvPr id="118" name="Rounded Rectangle 117"/>
          <p:cNvSpPr/>
          <p:nvPr/>
        </p:nvSpPr>
        <p:spPr>
          <a:xfrm>
            <a:off x="3175000" y="1400000"/>
            <a:ext cx="2690000" cy="1390000"/>
          </a:xfrm>
          <a:prstGeom prst="roundRect">
            <a:avLst/>
          </a:prstGeom>
          <a:solidFill>
            <a:srgbClr val="1B20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000" rIns="45000" tIns="20000" bIns="20000"/>
          <a:lstStyle/>
          <a:p>
            <a:pPr algn="ctr">
              <a:lnSpc>
                <a:spcPct val="100000"/>
              </a:lnSpc>
            </a:pPr>
            <a:r>
              <a:rPr sz="850" b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119" name="Rounded Rectangle 118"/>
          <p:cNvSpPr/>
          <p:nvPr/>
        </p:nvSpPr>
        <p:spPr>
          <a:xfrm>
            <a:off x="3175000" y="1400000"/>
            <a:ext cx="2690000" cy="300000"/>
          </a:xfrm>
          <a:prstGeom prst="roundRect">
            <a:avLst/>
          </a:prstGeom>
          <a:solidFill>
            <a:srgbClr val="121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000" rIns="45000" tIns="20000" bIns="20000"/>
          <a:lstStyle/>
          <a:p>
            <a:pPr algn="ctr">
              <a:lnSpc>
                <a:spcPct val="100000"/>
              </a:lnSpc>
            </a:pPr>
            <a:r>
              <a:rPr sz="850" b="1">
                <a:solidFill>
                  <a:srgbClr val="A8772A"/>
                </a:solidFill>
              </a:rPr>
              <a:t>CO-OFFENDER NETWORK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175000" y="2820000"/>
            <a:ext cx="269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i="1">
                <a:solidFill>
                  <a:srgbClr val="60666E"/>
                </a:solidFill>
              </a:rPr>
              <a:t>resolved people, Louvain communities, PageRank sizing</a:t>
            </a:r>
          </a:p>
        </p:txBody>
      </p:sp>
      <p:sp>
        <p:nvSpPr>
          <p:cNvPr id="121" name="Rounded Rectangle 120"/>
          <p:cNvSpPr/>
          <p:nvPr/>
        </p:nvSpPr>
        <p:spPr>
          <a:xfrm>
            <a:off x="5970000" y="1400000"/>
            <a:ext cx="2690000" cy="1390000"/>
          </a:xfrm>
          <a:prstGeom prst="roundRect">
            <a:avLst/>
          </a:prstGeom>
          <a:solidFill>
            <a:srgbClr val="1B20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000" rIns="45000" tIns="20000" bIns="20000"/>
          <a:lstStyle/>
          <a:p>
            <a:pPr algn="ctr">
              <a:lnSpc>
                <a:spcPct val="100000"/>
              </a:lnSpc>
            </a:pPr>
            <a:r>
              <a:rPr sz="850" b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122" name="Rounded Rectangle 121"/>
          <p:cNvSpPr/>
          <p:nvPr/>
        </p:nvSpPr>
        <p:spPr>
          <a:xfrm>
            <a:off x="5970000" y="1400000"/>
            <a:ext cx="2690000" cy="300000"/>
          </a:xfrm>
          <a:prstGeom prst="roundRect">
            <a:avLst/>
          </a:prstGeom>
          <a:solidFill>
            <a:srgbClr val="121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000" rIns="45000" tIns="20000" bIns="20000"/>
          <a:lstStyle/>
          <a:p>
            <a:pPr algn="ctr">
              <a:lnSpc>
                <a:spcPct val="100000"/>
              </a:lnSpc>
            </a:pPr>
            <a:r>
              <a:rPr sz="850" b="1">
                <a:solidFill>
                  <a:srgbClr val="A8772A"/>
                </a:solidFill>
              </a:rPr>
              <a:t>HOTSPOT MAP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5970000" y="2820000"/>
            <a:ext cx="269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i="1">
                <a:solidFill>
                  <a:srgbClr val="60666E"/>
                </a:solidFill>
              </a:rPr>
              <a:t>KDE heatmap + case points on the self-drawn basemap</a:t>
            </a:r>
          </a:p>
        </p:txBody>
      </p:sp>
      <p:sp>
        <p:nvSpPr>
          <p:cNvPr id="124" name="Rounded Rectangle 123"/>
          <p:cNvSpPr/>
          <p:nvPr/>
        </p:nvSpPr>
        <p:spPr>
          <a:xfrm>
            <a:off x="380000" y="3140000"/>
            <a:ext cx="2690000" cy="1390000"/>
          </a:xfrm>
          <a:prstGeom prst="roundRect">
            <a:avLst/>
          </a:prstGeom>
          <a:solidFill>
            <a:srgbClr val="1B20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000" rIns="45000" tIns="20000" bIns="20000"/>
          <a:lstStyle/>
          <a:p>
            <a:pPr algn="ctr">
              <a:lnSpc>
                <a:spcPct val="100000"/>
              </a:lnSpc>
            </a:pPr>
            <a:r>
              <a:rPr sz="850" b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125" name="Rounded Rectangle 124"/>
          <p:cNvSpPr/>
          <p:nvPr/>
        </p:nvSpPr>
        <p:spPr>
          <a:xfrm>
            <a:off x="380000" y="3140000"/>
            <a:ext cx="2690000" cy="300000"/>
          </a:xfrm>
          <a:prstGeom prst="roundRect">
            <a:avLst/>
          </a:prstGeom>
          <a:solidFill>
            <a:srgbClr val="121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000" rIns="45000" tIns="20000" bIns="20000"/>
          <a:lstStyle/>
          <a:p>
            <a:pPr algn="ctr">
              <a:lnSpc>
                <a:spcPct val="100000"/>
              </a:lnSpc>
            </a:pPr>
            <a:r>
              <a:rPr sz="850" b="1">
                <a:solidFill>
                  <a:srgbClr val="A8772A"/>
                </a:solidFill>
              </a:rPr>
              <a:t>REFUSAL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380000" y="4560000"/>
            <a:ext cx="269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i="1">
                <a:solidFill>
                  <a:srgbClr val="60666E"/>
                </a:solidFill>
              </a:rPr>
              <a:t>a FIR number that does not exist</a:t>
            </a:r>
          </a:p>
        </p:txBody>
      </p:sp>
      <p:sp>
        <p:nvSpPr>
          <p:cNvPr id="127" name="Rounded Rectangle 126"/>
          <p:cNvSpPr/>
          <p:nvPr/>
        </p:nvSpPr>
        <p:spPr>
          <a:xfrm>
            <a:off x="3175000" y="3140000"/>
            <a:ext cx="2690000" cy="1390000"/>
          </a:xfrm>
          <a:prstGeom prst="roundRect">
            <a:avLst/>
          </a:prstGeom>
          <a:solidFill>
            <a:srgbClr val="1B20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000" rIns="45000" tIns="20000" bIns="20000"/>
          <a:lstStyle/>
          <a:p>
            <a:pPr algn="ctr">
              <a:lnSpc>
                <a:spcPct val="100000"/>
              </a:lnSpc>
            </a:pPr>
            <a:r>
              <a:rPr sz="850" b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128" name="Rounded Rectangle 127"/>
          <p:cNvSpPr/>
          <p:nvPr/>
        </p:nvSpPr>
        <p:spPr>
          <a:xfrm>
            <a:off x="3175000" y="3140000"/>
            <a:ext cx="2690000" cy="300000"/>
          </a:xfrm>
          <a:prstGeom prst="roundRect">
            <a:avLst/>
          </a:prstGeom>
          <a:solidFill>
            <a:srgbClr val="121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000" rIns="45000" tIns="20000" bIns="20000"/>
          <a:lstStyle/>
          <a:p>
            <a:pPr algn="ctr">
              <a:lnSpc>
                <a:spcPct val="100000"/>
              </a:lnSpc>
            </a:pPr>
            <a:r>
              <a:rPr sz="850" b="1">
                <a:solidFill>
                  <a:srgbClr val="A8772A"/>
                </a:solidFill>
              </a:rPr>
              <a:t>KANNADA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3175000" y="4560000"/>
            <a:ext cx="269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i="1">
                <a:solidFill>
                  <a:srgbClr val="60666E"/>
                </a:solidFill>
              </a:rPr>
              <a:t>ಕನ್ನಡ question, English evidence, Kannada answer</a:t>
            </a:r>
          </a:p>
        </p:txBody>
      </p:sp>
      <p:sp>
        <p:nvSpPr>
          <p:cNvPr id="130" name="Rounded Rectangle 129"/>
          <p:cNvSpPr/>
          <p:nvPr/>
        </p:nvSpPr>
        <p:spPr>
          <a:xfrm>
            <a:off x="5970000" y="3140000"/>
            <a:ext cx="2690000" cy="1390000"/>
          </a:xfrm>
          <a:prstGeom prst="roundRect">
            <a:avLst/>
          </a:prstGeom>
          <a:solidFill>
            <a:srgbClr val="1B20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000" rIns="45000" tIns="20000" bIns="20000"/>
          <a:lstStyle/>
          <a:p>
            <a:pPr algn="ctr">
              <a:lnSpc>
                <a:spcPct val="100000"/>
              </a:lnSpc>
            </a:pPr>
            <a:r>
              <a:rPr sz="850" b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131" name="Rounded Rectangle 130"/>
          <p:cNvSpPr/>
          <p:nvPr/>
        </p:nvSpPr>
        <p:spPr>
          <a:xfrm>
            <a:off x="5970000" y="3140000"/>
            <a:ext cx="2690000" cy="300000"/>
          </a:xfrm>
          <a:prstGeom prst="roundRect">
            <a:avLst/>
          </a:prstGeom>
          <a:solidFill>
            <a:srgbClr val="121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000" rIns="45000" tIns="20000" bIns="20000"/>
          <a:lstStyle/>
          <a:p>
            <a:pPr algn="ctr">
              <a:lnSpc>
                <a:spcPct val="100000"/>
              </a:lnSpc>
            </a:pPr>
            <a:r>
              <a:rPr sz="850" b="1">
                <a:solidFill>
                  <a:srgbClr val="A8772A"/>
                </a:solidFill>
              </a:rPr>
              <a:t>RBAC CONTRAST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5970000" y="4560000"/>
            <a:ext cx="269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i="1">
                <a:solidFill>
                  <a:srgbClr val="60666E"/>
                </a:solidFill>
              </a:rPr>
              <a:t>the same question as IO (1 station) and as DSP (76)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80000" y="1180000"/>
            <a:ext cx="839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i="1">
                <a:solidFill>
                  <a:srgbClr val="60666E"/>
                </a:solidFill>
              </a:rPr>
              <a:t>Live console · replace each frame with its screenshot (?as=DSP on the deployed link signs in without credentials).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24" title="Framwdwdwde 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24"/>
          <p:cNvSpPr txBox="1"/>
          <p:nvPr/>
        </p:nvSpPr>
        <p:spPr>
          <a:xfrm>
            <a:off x="158825" y="806350"/>
            <a:ext cx="8796600" cy="48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rPr sz="1600" b="1">
                <a:solidFill>
                  <a:srgbClr val="12161C"/>
                </a:solidFill>
              </a:rPr>
              <a:t>Performance and benchmarking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380000" y="1420000"/>
            <a:ext cx="8390000" cy="3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950">
                <a:solidFill>
                  <a:srgbClr val="2A2F36"/>
                </a:solidFill>
              </a:rPr>
              <a:t>•  Entity resolution, against the generator's answer key — F1 0.989 (precision 0.997, recall 0.981). This is the load-bearing number: without it there are no priors, no network and no money trail.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950">
                <a:solidFill>
                  <a:srgbClr val="2A2F36"/>
                </a:solidFill>
              </a:rPr>
              <a:t>•  Knowledge graph — 16,918 nodes and 87,120 edges, materialised in under a second. Louvain finds 12 communities of realistic size. (An earlier generator drew co-accused independently, making the network a random graph; Louvain correctly put 254 of 255 people in one community — the model was right and the data was wrong.)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950">
                <a:solidFill>
                  <a:srgbClr val="2A2F36"/>
                </a:solidFill>
              </a:rPr>
              <a:t>•  Retrieval — 13,835 documents, exact brute-force cosine, so there is no approximate-index recall loss to explain away at this scale.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950">
                <a:solidFill>
                  <a:srgbClr val="2A2F36"/>
                </a:solidFill>
              </a:rPr>
              <a:t>•  Exact lookup — FIR 100222201202600022 returns the Mandya Hurt case (PS 2201, filed 30 Jun 2026) at confidence 0.97; a well-formed FIR number that does not exist is refused rather than answered with the nearest narrative.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950">
                <a:solidFill>
                  <a:srgbClr val="2A2F36"/>
                </a:solidFill>
              </a:rPr>
              <a:t>•  Access control, measured live — an Investigating Officer sees 81 cases across 1 station; a DSP and above sees 500 across 76.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950">
                <a:solidFill>
                  <a:srgbClr val="2A2F36"/>
                </a:solidFill>
              </a:rPr>
              <a:t>•  Kannada — ಕನ್ನಡ query round-trips to English and back, routed as CRIME_SEARCH with 5 citations.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950">
                <a:solidFill>
                  <a:srgbClr val="2A2F36"/>
                </a:solidFill>
              </a:rPr>
              <a:t>•  Tests — 200 green, no database and no Docker required. Deployed image 0.88 GB, which fits AppSail's measured ~1.3 GB bundle sandbox.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950">
                <a:solidFill>
                  <a:srgbClr val="2A2F36"/>
                </a:solidFill>
              </a:rPr>
              <a:t>•  Live health — llm=quickml(glm-4.7-flash) · datastore=catalyst · firs=10000 · graph 16,918n/87,120e · vectors 13,835 docs · cache=catalyst.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125;p25" title="Framwdwdwde 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25"/>
          <p:cNvSpPr txBox="1"/>
          <p:nvPr/>
        </p:nvSpPr>
        <p:spPr>
          <a:xfrm>
            <a:off x="146600" y="843000"/>
            <a:ext cx="88332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rPr sz="1600" b="1">
                <a:solidFill>
                  <a:srgbClr val="12161C"/>
                </a:solidFill>
              </a:rPr>
              <a:t>Links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380000" y="1420000"/>
            <a:ext cx="8390000" cy="3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Bef>
                <a:spcPts val="600"/>
              </a:spcBef>
              <a:spcAft>
                <a:spcPts val="400"/>
              </a:spcAft>
            </a:pPr>
            <a:r>
              <a:rPr sz="1150" b="1">
                <a:solidFill>
                  <a:srgbClr val="A8772A"/>
                </a:solidFill>
              </a:rPr>
              <a:t>GitHub (public)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100">
                <a:solidFill>
                  <a:srgbClr val="2A2F36"/>
                </a:solidFill>
              </a:rPr>
              <a:t>•  https://github.com/baveshraam/Veritas</a:t>
            </a:r>
          </a:p>
          <a:p>
            <a:pPr>
              <a:lnSpc>
                <a:spcPct val="105000"/>
              </a:lnSpc>
              <a:spcBef>
                <a:spcPts val="600"/>
              </a:spcBef>
              <a:spcAft>
                <a:spcPts val="400"/>
              </a:spcAft>
            </a:pPr>
            <a:r>
              <a:rPr sz="1150" b="1">
                <a:solidFill>
                  <a:srgbClr val="A8772A"/>
                </a:solidFill>
              </a:rPr>
              <a:t>Deployed on Catalyst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100">
                <a:solidFill>
                  <a:srgbClr val="2A2F36"/>
                </a:solidFill>
              </a:rPr>
              <a:t>•  Console  —  https://veritas-60077763394.development.catalystserverless.in/app/index.html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100">
                <a:solidFill>
                  <a:srgbClr val="2A2F36"/>
                </a:solidFill>
              </a:rPr>
              <a:t>•  API  —  https://veritas-api-50043864344.development.catalystappsail.in/health</a:t>
            </a:r>
          </a:p>
          <a:p>
            <a:pPr>
              <a:lnSpc>
                <a:spcPct val="105000"/>
              </a:lnSpc>
              <a:spcBef>
                <a:spcPts val="600"/>
              </a:spcBef>
              <a:spcAft>
                <a:spcPts val="400"/>
              </a:spcAft>
            </a:pPr>
            <a:r>
              <a:rPr sz="1150" b="1">
                <a:solidFill>
                  <a:srgbClr val="A8772A"/>
                </a:solidFill>
              </a:rPr>
              <a:t>Demo video (3 minutes)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100">
                <a:solidFill>
                  <a:srgbClr val="2A2F36"/>
                </a:solidFill>
              </a:rPr>
              <a:t>•  &lt;PASTE UNLISTED YOUTUBE OR PUBLIC DRIVE LINK&gt;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000" i="1">
                <a:solidFill>
                  <a:srgbClr val="60666E"/>
                </a:solidFill>
              </a:rPr>
              <a:t>Try it without credentials: append ?as=DSP to the console URL to sign in at that rank, or ?as=IO to see the same questions answered under a single station's access.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26" title="Framwdwdwde 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26"/>
          <p:cNvSpPr txBox="1"/>
          <p:nvPr/>
        </p:nvSpPr>
        <p:spPr>
          <a:xfrm>
            <a:off x="109950" y="781900"/>
            <a:ext cx="8894100" cy="6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rPr sz="1600" b="1">
                <a:solidFill>
                  <a:srgbClr val="12161C"/>
                </a:solidFill>
              </a:rPr>
              <a:t>Additional details and future development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80000" y="1420000"/>
            <a:ext cx="8390000" cy="3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Bef>
                <a:spcPts val="600"/>
              </a:spcBef>
              <a:spcAft>
                <a:spcPts val="400"/>
              </a:spcAft>
            </a:pPr>
            <a:r>
              <a:rPr sz="1000" b="1">
                <a:solidFill>
                  <a:srgbClr val="A8772A"/>
                </a:solidFill>
              </a:rPr>
              <a:t>Next, in order of value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950">
                <a:solidFill>
                  <a:srgbClr val="2A2F36"/>
                </a:solidFill>
              </a:rPr>
              <a:t>•  Live CCTNS ingestion — Kafka topics per event type with Flink enrichment, turning the batch identity-resolution pass into a streaming one so a new FIR joins the network as it is filed.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950">
                <a:solidFill>
                  <a:srgbClr val="2A2F36"/>
                </a:solidFill>
              </a:rPr>
              <a:t>•  Iceberg or MinIO once volume and time-travel needs exceed the Data Store; Keycloak for HR-federated identity; OPA/Rego when the policy set outgrows a Python module; MLflow when the model count outgrows ad-hoc endpoints.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950">
                <a:solidFill>
                  <a:srgbClr val="2A2F36"/>
                </a:solidFill>
              </a:rPr>
              <a:t>•  Spatio-temporal GNN forecasting beyond Prophet + MinT, once historical volume justifies the training cost.</a:t>
            </a:r>
          </a:p>
          <a:p>
            <a:pPr>
              <a:lnSpc>
                <a:spcPct val="105000"/>
              </a:lnSpc>
              <a:spcBef>
                <a:spcPts val="600"/>
              </a:spcBef>
              <a:spcAft>
                <a:spcPts val="400"/>
              </a:spcAft>
            </a:pPr>
            <a:r>
              <a:rPr sz="1000" b="1">
                <a:solidFill>
                  <a:srgbClr val="A8772A"/>
                </a:solidFill>
              </a:rPr>
              <a:t>What we would insist on before real deployment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950">
                <a:solidFill>
                  <a:srgbClr val="2A2F36"/>
                </a:solidFill>
              </a:rPr>
              <a:t>•  The numbers here are measured on synthetic FIRs built on real ground truth, because no real FIR data was available to us. On live records the entity-resolution thresholds must be re-tuned against a labelled sample first: a false merge is two people's histories fused into one, and that is a wrongful-suspicion error, not a metric.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950">
                <a:solidFill>
                  <a:srgbClr val="2A2F36"/>
                </a:solidFill>
              </a:rPr>
              <a:t>•  The bias audit runs on geographic subgroups as well as demographic ones, because geography is where the over-policing feedback loop hides. That result should be published alongside any deployment.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27" title="Framwdwdwde 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27"/>
          <p:cNvSpPr txBox="1"/>
          <p:nvPr/>
        </p:nvSpPr>
        <p:spPr>
          <a:xfrm>
            <a:off x="146600" y="830000"/>
            <a:ext cx="8833200" cy="5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rPr sz="1600" b="1">
                <a:solidFill>
                  <a:srgbClr val="12161C"/>
                </a:solidFill>
              </a:rPr>
              <a:t>Responsible AI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380000" y="1420000"/>
            <a:ext cx="8390000" cy="3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950">
                <a:solidFill>
                  <a:srgbClr val="2A2F36"/>
                </a:solidFill>
              </a:rPr>
              <a:t>Predictive policing has a documented history of laundering historical bias — over-policing produces more recorded crime, which “predicts” crime in the same place — into an apparently objective score. The rules below are enforced in code and covered by tests, not asserted in a policy document.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950">
                <a:solidFill>
                  <a:srgbClr val="2A2F36"/>
                </a:solidFill>
              </a:rPr>
              <a:t>•  No protected or proxy attribute reaches a model. CasteID and ReligionID are stored because the ER declares them and conformance is a hard requirement; no model reads them. Storing is not scoring. Gender is kept only as a subgroup label, so the fairness audit has an axis to test against.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950">
                <a:solidFill>
                  <a:srgbClr val="2A2F36"/>
                </a:solidFill>
              </a:rPr>
              <a:t>•  Detector output is never the generator's input. The injected laundering patterns are written to a file, never to the column the detectors read — a classifier trained on a label sitting in the column it scores measures nothing.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950">
                <a:solidFill>
                  <a:srgbClr val="2A2F36"/>
                </a:solidFill>
              </a:rPr>
              <a:t>•  Aequitas (Saleiro et al. 2018, the toolkit built for criminal-justice risk tools) audits disparate impact and FPR/FNR parity across demographic and geographic subgroups.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950">
                <a:solidFill>
                  <a:srgbClr val="2A2F36"/>
                </a:solidFill>
              </a:rPr>
              <a:t>•  Human in the loop by design: every prediction is decision-support with confidence intervals and SHAP explanations, nothing is an automated trigger, and the console visibly distinguishes “the model suggests” from “the record shows”.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950">
                <a:solidFill>
                  <a:srgbClr val="2A2F36"/>
                </a:solidFill>
              </a:rPr>
              <a:t>•  The causal layer names its unmeasured confounder — police strength is not published per district in India — rather than adjusting for a column we would have had to fabricate.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143;p28" title="Framwdwdwde 1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3997" cy="51434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